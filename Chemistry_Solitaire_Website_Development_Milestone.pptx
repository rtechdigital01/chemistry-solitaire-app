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005840"/>
            <a:ext cx="109728" cy="4480560"/>
          </a:xfrm>
          <a:prstGeom prst="rect">
            <a:avLst/>
          </a:prstGeom>
          <a:solidFill>
            <a:srgbClr val="D4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41732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CHEMISTRY SOLITAIRE</a:t>
            </a:r>
          </a:p>
          <a:p>
            <a:pPr>
              <a:defRPr sz="2500">
                <a:solidFill>
                  <a:srgbClr val="D4A840"/>
                </a:solidFill>
              </a:defRPr>
            </a:pPr>
            <a:r>
              <a:t>Website Development Milestone Plan</a:t>
            </a:r>
          </a:p>
          <a:p>
            <a:pPr>
              <a:spcBef>
                <a:spcPts val="1800"/>
              </a:spcBef>
              <a:defRPr sz="1800">
                <a:solidFill>
                  <a:srgbClr val="FFFFFF"/>
                </a:solidFill>
              </a:defRPr>
            </a:pPr>
            <a:r>
              <a:t>Full-Stack Developer</a:t>
            </a:r>
          </a:p>
          <a:p>
            <a:pPr>
              <a:spcBef>
                <a:spcPts val="2800"/>
              </a:spcBef>
              <a:defRPr sz="1600">
                <a:solidFill>
                  <a:srgbClr val="DCE1E8"/>
                </a:solidFill>
              </a:defRPr>
            </a:pPr>
            <a:r>
              <a:t>Dates: ______________________________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Development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1323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1E8"/>
                </a:solidFill>
              </a:defRPr>
            </a:pPr>
            <a:r>
              <a:t>Programmer milestone based on the agreed Chemistry Solitaire MVP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5276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D4A840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99616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2037"/>
                </a:solidFill>
              </a:defRPr>
            </a:pPr>
            <a:r>
              <a:t>Front-end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Responsive pages and learner-facing game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1065276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50591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D4A840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14015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2037"/>
                </a:solidFill>
              </a:defRPr>
            </a:pPr>
            <a:r>
              <a:t>Back-end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Authentication, database, progress and gameplay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46120"/>
            <a:ext cx="1065276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64991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D4A840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28415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2037"/>
                </a:solidFill>
              </a:defRPr>
            </a:pPr>
            <a:r>
              <a:t>Gameplay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Matching logic, scoring, hints, feedback and progression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60520"/>
            <a:ext cx="1065276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D4A840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42816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2037"/>
                </a:solidFill>
              </a:defRPr>
            </a:pPr>
            <a:r>
              <a:t>Testing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Responsive behaviour, accessibility and bug fixing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074920"/>
            <a:ext cx="1065276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19379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D4A840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57216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2037"/>
                </a:solidFill>
              </a:defRPr>
            </a:pPr>
            <a:r>
              <a:t>Deployment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Production setup and final live release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Website Build Schedule —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1323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1E8"/>
                </a:solidFill>
              </a:defRPr>
            </a:pPr>
            <a:r>
              <a:t>Enter your preferred calendar dates in the Date column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35607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D4A840"/>
                </a:solidFill>
              </a:defRPr>
            </a:pPr>
            <a: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1732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037"/>
                </a:solidFill>
              </a:defRPr>
            </a:pPr>
            <a:r>
              <a:t>Project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399032"/>
            <a:ext cx="5715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t>• Create project structure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Configure database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Set up GitHub/version control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Prepare development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472184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t>Date:</a:t>
            </a:r>
            <a:br/>
            <a:r>
              <a:t>__________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50008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459736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D4A840"/>
                </a:solidFill>
              </a:defRPr>
            </a:pPr>
            <a: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441448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037"/>
                </a:solidFill>
              </a:defRPr>
            </a:pPr>
            <a:r>
              <a:t>Homepage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23160"/>
            <a:ext cx="5715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t>• Responsive navigation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Hero/project introduction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Main call-to-action sections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Mobile and desktop layout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496312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t>Date:</a:t>
            </a:r>
            <a:br/>
            <a:r>
              <a:t>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74136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483864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D4A840"/>
                </a:solidFill>
              </a:defRPr>
            </a:pPr>
            <a:r>
              <a:t>Day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465576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037"/>
                </a:solidFill>
              </a:defRPr>
            </a:pPr>
            <a:r>
              <a:t>Registration &amp; 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447288"/>
            <a:ext cx="5715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t>• User registration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Login and logout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Authentication flow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Basic user profile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52044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t>Date:</a:t>
            </a:r>
            <a:br/>
            <a:r>
              <a:t>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98264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507992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D4A840"/>
                </a:solidFill>
              </a:defRPr>
            </a:pPr>
            <a:r>
              <a:t>Day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48970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037"/>
                </a:solidFill>
              </a:defRPr>
            </a:pPr>
            <a:r>
              <a:t>User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471416"/>
            <a:ext cx="5715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t>• Learner dashboard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User information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Navigation to topics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Progress summary area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544568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t>Date:</a:t>
            </a:r>
            <a:br/>
            <a:r>
              <a:t>__________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22392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532120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D4A840"/>
                </a:solidFill>
              </a:defRPr>
            </a:pPr>
            <a:r>
              <a:t>Day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513832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037"/>
                </a:solidFill>
              </a:defRPr>
            </a:pPr>
            <a:r>
              <a:t>Topic Selection Page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495544"/>
            <a:ext cx="5715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t>• Chemistry topic cards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Topic selection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Level/difficulty selection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Connect selection to game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5568696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t>Date:</a:t>
            </a:r>
            <a:br/>
            <a:r>
              <a:t>__________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Website Build Schedule —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1323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1E8"/>
                </a:solidFill>
              </a:defRPr>
            </a:pPr>
            <a:r>
              <a:t>Enter your preferred calendar dates in the Date column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35607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D4A840"/>
                </a:solidFill>
              </a:defRPr>
            </a:pPr>
            <a:r>
              <a:t>Days 6–7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1732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037"/>
                </a:solidFill>
              </a:defRPr>
            </a:pPr>
            <a:r>
              <a:t>Game Board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399032"/>
            <a:ext cx="5715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t>• Solitaire-style card interface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Theme/matching areas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Card interactions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Responsive gameplay 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472184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t>Date:</a:t>
            </a:r>
            <a:br/>
            <a:r>
              <a:t>__________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50008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459736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D4A840"/>
                </a:solidFill>
              </a:defRPr>
            </a:pPr>
            <a:r>
              <a:t>Days 8–9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441448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037"/>
                </a:solidFill>
              </a:defRPr>
            </a:pPr>
            <a:r>
              <a:t>Game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23160"/>
            <a:ext cx="5715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t>• Card selection and matching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Correct-match validation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Incorrect-answer feedback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Core game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496312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t>Date:</a:t>
            </a:r>
            <a:br/>
            <a:r>
              <a:t>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74136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483864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D4A840"/>
                </a:solidFill>
              </a:defRPr>
            </a:pPr>
            <a:r>
              <a:t>Day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465576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037"/>
                </a:solidFill>
              </a:defRPr>
            </a:pPr>
            <a:r>
              <a:t>Score &amp; Hints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447288"/>
            <a:ext cx="5715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t>• Scoring system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Moves counter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Hints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Learner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52044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t>Date:</a:t>
            </a:r>
            <a:br/>
            <a:r>
              <a:t>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98264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507992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D4A840"/>
                </a:solidFill>
              </a:defRPr>
            </a:pPr>
            <a:r>
              <a:t>Day 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48970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037"/>
                </a:solidFill>
              </a:defRPr>
            </a:pPr>
            <a:r>
              <a:t>Level Progression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471416"/>
            <a:ext cx="5715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t>• Completion logic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Level progression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Completion screen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Next-level navigation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544568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t>Date:</a:t>
            </a:r>
            <a:br/>
            <a:r>
              <a:t>__________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22392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532120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D4A840"/>
                </a:solidFill>
              </a:defRPr>
            </a:pPr>
            <a:r>
              <a:t>Day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513832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037"/>
                </a:solidFill>
              </a:defRPr>
            </a:pPr>
            <a:r>
              <a:t>Progress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495544"/>
            <a:ext cx="5715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t>• Save scores and attempts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Track time spent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Store hints used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Save completion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5568696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t>Date:</a:t>
            </a:r>
            <a:br/>
            <a:r>
              <a:t>__________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Website Build Schedule — 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1323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1E8"/>
                </a:solidFill>
              </a:defRPr>
            </a:pPr>
            <a:r>
              <a:t>Enter your preferred calendar dates in the Date column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35607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D4A840"/>
                </a:solidFill>
              </a:defRPr>
            </a:pPr>
            <a:r>
              <a:t>Day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1732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037"/>
                </a:solidFill>
              </a:defRPr>
            </a:pPr>
            <a:r>
              <a:t>Teacher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399032"/>
            <a:ext cx="5715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t>• Basic teacher dashboard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Learner progress overview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Scores/completion visibility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Simple progress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472184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t>Date:</a:t>
            </a:r>
            <a:br/>
            <a:r>
              <a:t>__________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50008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459736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D4A840"/>
                </a:solidFill>
              </a:defRPr>
            </a:pPr>
            <a:r>
              <a:t>Day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441448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037"/>
                </a:solidFill>
              </a:defRPr>
            </a:pPr>
            <a:r>
              <a:t>Testing &amp; Bug Fixes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23160"/>
            <a:ext cx="5715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t>• Functional testing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Responsive testing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Accessibility checks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Fix identified bugs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496312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t>Date:</a:t>
            </a:r>
            <a:br/>
            <a:r>
              <a:t>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74136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483864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D4A840"/>
                </a:solidFill>
              </a:defRPr>
            </a:pPr>
            <a:r>
              <a:t>Day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465576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037"/>
                </a:solidFill>
              </a:defRPr>
            </a:pPr>
            <a: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447288"/>
            <a:ext cx="5715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t>• Production configuration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Database/hosting setup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Final live testing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t>• Deploy web MVP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52044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t>Date:</a:t>
            </a:r>
            <a:br/>
            <a:r>
              <a:t>__________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Final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1323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1E8"/>
                </a:solidFill>
              </a:defRPr>
            </a:pPr>
            <a:r>
              <a:t>Expected output after the development schedule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4023360"/>
          </a:xfrm>
          <a:prstGeom prst="roundRect">
            <a:avLst/>
          </a:prstGeom>
          <a:solidFill>
            <a:srgbClr val="F4F6F8"/>
          </a:solidFill>
          <a:ln>
            <a:solidFill>
              <a:srgbClr val="D4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95097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037"/>
                </a:solidFill>
              </a:defRPr>
            </a:pPr>
            <a:r>
              <a:t>Working Chemistry Solitaire Web MVP</a:t>
            </a:r>
          </a:p>
          <a:p>
            <a:pPr>
              <a:spcBef>
                <a:spcPts val="900"/>
              </a:spcBef>
              <a:defRPr sz="1600">
                <a:solidFill>
                  <a:srgbClr val="222222"/>
                </a:solidFill>
              </a:defRPr>
            </a:pPr>
            <a:r>
              <a:t>✓  Responsive homepage and navigation</a:t>
            </a:r>
          </a:p>
          <a:p>
            <a:pPr>
              <a:spcBef>
                <a:spcPts val="900"/>
              </a:spcBef>
              <a:defRPr sz="1600">
                <a:solidFill>
                  <a:srgbClr val="222222"/>
                </a:solidFill>
              </a:defRPr>
            </a:pPr>
            <a:r>
              <a:t>✓  Registration, login and learner dashboard</a:t>
            </a:r>
          </a:p>
          <a:p>
            <a:pPr>
              <a:spcBef>
                <a:spcPts val="900"/>
              </a:spcBef>
              <a:defRPr sz="1600">
                <a:solidFill>
                  <a:srgbClr val="222222"/>
                </a:solidFill>
              </a:defRPr>
            </a:pPr>
            <a:r>
              <a:t>✓  Chemistry topic and level selection</a:t>
            </a:r>
          </a:p>
          <a:p>
            <a:pPr>
              <a:spcBef>
                <a:spcPts val="900"/>
              </a:spcBef>
              <a:defRPr sz="1600">
                <a:solidFill>
                  <a:srgbClr val="222222"/>
                </a:solidFill>
              </a:defRPr>
            </a:pPr>
            <a:r>
              <a:t>✓  Playable card-matching game board</a:t>
            </a:r>
          </a:p>
          <a:p>
            <a:pPr>
              <a:spcBef>
                <a:spcPts val="900"/>
              </a:spcBef>
              <a:defRPr sz="1600">
                <a:solidFill>
                  <a:srgbClr val="222222"/>
                </a:solidFill>
              </a:defRPr>
            </a:pPr>
            <a:r>
              <a:t>✓  Scoring, hints, feedback and progression</a:t>
            </a:r>
          </a:p>
          <a:p>
            <a:pPr>
              <a:spcBef>
                <a:spcPts val="900"/>
              </a:spcBef>
              <a:defRPr sz="1600">
                <a:solidFill>
                  <a:srgbClr val="222222"/>
                </a:solidFill>
              </a:defRPr>
            </a:pPr>
            <a:r>
              <a:t>✓  Progress tracking and basic teacher view</a:t>
            </a:r>
          </a:p>
          <a:p>
            <a:pPr>
              <a:spcBef>
                <a:spcPts val="900"/>
              </a:spcBef>
              <a:defRPr sz="1600">
                <a:solidFill>
                  <a:srgbClr val="222222"/>
                </a:solidFill>
              </a:defRPr>
            </a:pPr>
            <a:r>
              <a:t>✓  Tested and deployed web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